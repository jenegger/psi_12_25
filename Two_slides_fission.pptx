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00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smtClean="0"/>
              <a:t>Formatvorlage des Untertitelmasters durch Klicken bearbeiten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5FC2C-62CC-4AFE-ADBE-A21884C0D50E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53F30-2F68-4BA7-8C0A-C910EC03DF3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214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5FC2C-62CC-4AFE-ADBE-A21884C0D50E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53F30-2F68-4BA7-8C0A-C910EC03DF3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4167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5FC2C-62CC-4AFE-ADBE-A21884C0D50E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53F30-2F68-4BA7-8C0A-C910EC03DF3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0703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5FC2C-62CC-4AFE-ADBE-A21884C0D50E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53F30-2F68-4BA7-8C0A-C910EC03DF3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974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5FC2C-62CC-4AFE-ADBE-A21884C0D50E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53F30-2F68-4BA7-8C0A-C910EC03DF3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219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5FC2C-62CC-4AFE-ADBE-A21884C0D50E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53F30-2F68-4BA7-8C0A-C910EC03DF3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551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5FC2C-62CC-4AFE-ADBE-A21884C0D50E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53F30-2F68-4BA7-8C0A-C910EC03DF3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6268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5FC2C-62CC-4AFE-ADBE-A21884C0D50E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53F30-2F68-4BA7-8C0A-C910EC03DF3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4277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5FC2C-62CC-4AFE-ADBE-A21884C0D50E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53F30-2F68-4BA7-8C0A-C910EC03DF3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4004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5FC2C-62CC-4AFE-ADBE-A21884C0D50E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53F30-2F68-4BA7-8C0A-C910EC03DF3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610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5FC2C-62CC-4AFE-ADBE-A21884C0D50E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53F30-2F68-4BA7-8C0A-C910EC03DF3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175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F5FC2C-62CC-4AFE-ADBE-A21884C0D50E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E53F30-2F68-4BA7-8C0A-C910EC03DF3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766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8532" y="2885736"/>
            <a:ext cx="6189044" cy="3642214"/>
          </a:xfrm>
          <a:prstGeom prst="rect">
            <a:avLst/>
          </a:prstGeom>
        </p:spPr>
      </p:pic>
      <p:pic>
        <p:nvPicPr>
          <p:cNvPr id="5" name="Grafik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721" y="1135780"/>
            <a:ext cx="5713623" cy="4191763"/>
          </a:xfrm>
          <a:prstGeom prst="rect">
            <a:avLst/>
          </a:prstGeom>
        </p:spPr>
      </p:pic>
      <p:sp>
        <p:nvSpPr>
          <p:cNvPr id="6" name="Textfeld 5"/>
          <p:cNvSpPr txBox="1"/>
          <p:nvPr/>
        </p:nvSpPr>
        <p:spPr>
          <a:xfrm>
            <a:off x="6002956" y="1293971"/>
            <a:ext cx="590670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Motivation</a:t>
            </a:r>
          </a:p>
          <a:p>
            <a:r>
              <a:rPr lang="en-US" dirty="0"/>
              <a:t>● Unexpected asymmetric fission in 180Hg.</a:t>
            </a:r>
          </a:p>
          <a:p>
            <a:r>
              <a:rPr lang="en-US" dirty="0"/>
              <a:t>➔ What are the limits of the new asymmetric fission</a:t>
            </a:r>
          </a:p>
          <a:p>
            <a:r>
              <a:rPr lang="en-US" dirty="0"/>
              <a:t>island ?</a:t>
            </a:r>
          </a:p>
          <a:p>
            <a:r>
              <a:rPr lang="en-US" dirty="0"/>
              <a:t>➔ What shell effect </a:t>
            </a:r>
            <a:r>
              <a:rPr lang="en-US" dirty="0" smtClean="0"/>
              <a:t>are responsible for the asymmetric </a:t>
            </a:r>
            <a:r>
              <a:rPr lang="en-US" dirty="0"/>
              <a:t>split</a:t>
            </a:r>
          </a:p>
        </p:txBody>
      </p:sp>
      <p:sp>
        <p:nvSpPr>
          <p:cNvPr id="7" name="Textfeld 6"/>
          <p:cNvSpPr txBox="1"/>
          <p:nvPr/>
        </p:nvSpPr>
        <p:spPr>
          <a:xfrm>
            <a:off x="500514" y="5272003"/>
            <a:ext cx="519764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S455 experiment</a:t>
            </a:r>
          </a:p>
          <a:p>
            <a:r>
              <a:rPr lang="en-US" dirty="0"/>
              <a:t>● Fission study of 100 neutron-deficient exotic nuclei</a:t>
            </a:r>
          </a:p>
          <a:p>
            <a:r>
              <a:rPr lang="en-US" dirty="0"/>
              <a:t>from </a:t>
            </a:r>
            <a:r>
              <a:rPr lang="en-US" dirty="0" smtClean="0"/>
              <a:t>iridium </a:t>
            </a:r>
            <a:r>
              <a:rPr lang="en-US" dirty="0"/>
              <a:t>to thorium (12 FRS settings).</a:t>
            </a:r>
          </a:p>
          <a:p>
            <a:r>
              <a:rPr lang="en-US" dirty="0"/>
              <a:t>● Fission induced by Coulomb excitation.</a:t>
            </a:r>
          </a:p>
          <a:p>
            <a:r>
              <a:rPr lang="en-US" dirty="0"/>
              <a:t>● Detection of both fission fragment in coincidence.</a:t>
            </a:r>
          </a:p>
        </p:txBody>
      </p:sp>
      <p:sp>
        <p:nvSpPr>
          <p:cNvPr id="8" name="Textfeld 7"/>
          <p:cNvSpPr txBox="1"/>
          <p:nvPr/>
        </p:nvSpPr>
        <p:spPr>
          <a:xfrm>
            <a:off x="1132573" y="102317"/>
            <a:ext cx="974076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Fission investigated </a:t>
            </a:r>
            <a:r>
              <a:rPr lang="en-US" sz="3200" b="1" dirty="0" smtClean="0"/>
              <a:t>at FAIR Phase-0 using </a:t>
            </a:r>
            <a:r>
              <a:rPr lang="en-US" sz="3200" b="1" dirty="0"/>
              <a:t>the </a:t>
            </a:r>
            <a:r>
              <a:rPr lang="en-US" sz="3200" b="1" dirty="0" smtClean="0"/>
              <a:t>advanced SOFIA@R3B </a:t>
            </a:r>
            <a:r>
              <a:rPr lang="en-US" sz="3200" b="1" dirty="0"/>
              <a:t>setup</a:t>
            </a:r>
          </a:p>
        </p:txBody>
      </p:sp>
      <p:sp>
        <p:nvSpPr>
          <p:cNvPr id="9" name="Ellipse 8"/>
          <p:cNvSpPr/>
          <p:nvPr/>
        </p:nvSpPr>
        <p:spPr>
          <a:xfrm>
            <a:off x="5848344" y="3955979"/>
            <a:ext cx="2313879" cy="1515939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33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1133" y="2399399"/>
            <a:ext cx="4430640" cy="4327499"/>
          </a:xfrm>
          <a:prstGeom prst="rect">
            <a:avLst/>
          </a:prstGeom>
        </p:spPr>
      </p:pic>
      <p:pic>
        <p:nvPicPr>
          <p:cNvPr id="4" name="Grafik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49123"/>
            <a:ext cx="7970658" cy="3905124"/>
          </a:xfrm>
          <a:prstGeom prst="rect">
            <a:avLst/>
          </a:prstGeom>
        </p:spPr>
      </p:pic>
      <p:sp>
        <p:nvSpPr>
          <p:cNvPr id="6" name="Textfeld 5"/>
          <p:cNvSpPr txBox="1"/>
          <p:nvPr/>
        </p:nvSpPr>
        <p:spPr>
          <a:xfrm>
            <a:off x="125128" y="1002792"/>
            <a:ext cx="34265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P. </a:t>
            </a:r>
            <a:r>
              <a:rPr lang="fr-FR" dirty="0" err="1"/>
              <a:t>Morfouace</a:t>
            </a:r>
            <a:r>
              <a:rPr lang="fr-FR" dirty="0"/>
              <a:t> </a:t>
            </a:r>
            <a:r>
              <a:rPr lang="fr-FR" i="1" dirty="0"/>
              <a:t>et al. </a:t>
            </a:r>
            <a:r>
              <a:rPr lang="fr-FR" dirty="0"/>
              <a:t>Nature (2025)</a:t>
            </a:r>
          </a:p>
          <a:p>
            <a:r>
              <a:rPr lang="en-US" dirty="0"/>
              <a:t>DOI 10.1038/s41586-025-08882-7</a:t>
            </a:r>
          </a:p>
        </p:txBody>
      </p:sp>
      <p:sp>
        <p:nvSpPr>
          <p:cNvPr id="7" name="Textfeld 6"/>
          <p:cNvSpPr txBox="1"/>
          <p:nvPr/>
        </p:nvSpPr>
        <p:spPr>
          <a:xfrm>
            <a:off x="934316" y="3570972"/>
            <a:ext cx="1308371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smtClean="0"/>
              <a:t>ZL = 36 (Kr)</a:t>
            </a:r>
            <a:endParaRPr lang="en-US" dirty="0"/>
          </a:p>
        </p:txBody>
      </p:sp>
      <p:sp>
        <p:nvSpPr>
          <p:cNvPr id="8" name="Textfeld 7"/>
          <p:cNvSpPr txBox="1"/>
          <p:nvPr/>
        </p:nvSpPr>
        <p:spPr>
          <a:xfrm>
            <a:off x="4504623" y="1559293"/>
            <a:ext cx="1386038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ZH = 54 (</a:t>
            </a:r>
            <a:r>
              <a:rPr lang="en-US" b="1" dirty="0" err="1"/>
              <a:t>Xe</a:t>
            </a:r>
            <a:r>
              <a:rPr lang="en-US" b="1" dirty="0"/>
              <a:t>)</a:t>
            </a:r>
            <a:endParaRPr lang="en-US" dirty="0"/>
          </a:p>
        </p:txBody>
      </p:sp>
      <p:sp>
        <p:nvSpPr>
          <p:cNvPr id="9" name="Textfeld 8"/>
          <p:cNvSpPr txBox="1"/>
          <p:nvPr/>
        </p:nvSpPr>
        <p:spPr>
          <a:xfrm>
            <a:off x="7601133" y="879746"/>
            <a:ext cx="423531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Results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First </a:t>
            </a:r>
            <a:r>
              <a:rPr lang="en-US" dirty="0"/>
              <a:t>set of charge distribution across a </a:t>
            </a:r>
            <a:r>
              <a:rPr lang="en-US" dirty="0" smtClean="0"/>
              <a:t>wide range </a:t>
            </a:r>
            <a:r>
              <a:rPr lang="en-US" dirty="0"/>
              <a:t>of exotic </a:t>
            </a:r>
            <a:r>
              <a:rPr lang="en-US" dirty="0" err="1"/>
              <a:t>fissioning</a:t>
            </a:r>
            <a:r>
              <a:rPr lang="en-US" dirty="0"/>
              <a:t> systems.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Experimental </a:t>
            </a:r>
            <a:r>
              <a:rPr lang="en-US" dirty="0"/>
              <a:t>evidence of strong </a:t>
            </a:r>
            <a:r>
              <a:rPr lang="en-US" dirty="0" smtClean="0"/>
              <a:t>proton-shell stabilization </a:t>
            </a:r>
            <a:r>
              <a:rPr lang="en-US" dirty="0"/>
              <a:t>at Z=36 </a:t>
            </a:r>
            <a:endParaRPr lang="en-US" dirty="0" smtClean="0"/>
          </a:p>
        </p:txBody>
      </p:sp>
      <p:sp>
        <p:nvSpPr>
          <p:cNvPr id="10" name="Textfeld 9"/>
          <p:cNvSpPr txBox="1"/>
          <p:nvPr/>
        </p:nvSpPr>
        <p:spPr>
          <a:xfrm>
            <a:off x="240632" y="5519693"/>
            <a:ext cx="743070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Unlike the actinides, the asymmetric fission in the neutron deficient sub-lead region is driven by shell effect in the light fragment.</a:t>
            </a:r>
          </a:p>
          <a:p>
            <a:endParaRPr lang="en-US" sz="2400" dirty="0"/>
          </a:p>
        </p:txBody>
      </p:sp>
      <p:sp>
        <p:nvSpPr>
          <p:cNvPr id="11" name="Textfeld 10"/>
          <p:cNvSpPr txBox="1"/>
          <p:nvPr/>
        </p:nvSpPr>
        <p:spPr>
          <a:xfrm>
            <a:off x="1132573" y="102317"/>
            <a:ext cx="97407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/>
              <a:t>A New Island of </a:t>
            </a:r>
            <a:r>
              <a:rPr lang="en-US" sz="3200" b="1" dirty="0"/>
              <a:t>A</a:t>
            </a:r>
            <a:r>
              <a:rPr lang="en-US" sz="3200" b="1" dirty="0" smtClean="0"/>
              <a:t>symmetric Fission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15857694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151</Words>
  <Application>Microsoft Office PowerPoint</Application>
  <PresentationFormat>Breitbild</PresentationFormat>
  <Paragraphs>20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</vt:lpstr>
      <vt:lpstr>PowerPoint-Präsentation</vt:lpstr>
      <vt:lpstr>PowerPoint-Präsentation</vt:lpstr>
    </vt:vector>
  </TitlesOfParts>
  <Company>OEM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Roman Gernhaeuser</dc:creator>
  <cp:lastModifiedBy>Roman Gernhaeuser</cp:lastModifiedBy>
  <cp:revision>4</cp:revision>
  <dcterms:created xsi:type="dcterms:W3CDTF">2025-05-03T09:23:20Z</dcterms:created>
  <dcterms:modified xsi:type="dcterms:W3CDTF">2025-11-21T15:40:19Z</dcterms:modified>
</cp:coreProperties>
</file>